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6530" y="1787843"/>
            <a:ext cx="9144000" cy="2387600"/>
          </a:xfrm>
        </p:spPr>
        <p:txBody>
          <a:bodyPr/>
          <a:lstStyle/>
          <a:p>
            <a:r>
              <a:rPr>
                <a:sym typeface="+mn-ea"/>
              </a:rPr>
              <a:t>Behavioral Design Patterns – Overview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6270" y="1195070"/>
            <a:ext cx="10515600" cy="4351338"/>
          </a:xfrm>
        </p:spPr>
        <p:txBody>
          <a:bodyPr/>
          <a:p>
            <a:pPr algn="just"/>
            <a:r>
              <a:rPr sz="2400">
                <a:sym typeface="+mn-ea"/>
              </a:rPr>
              <a:t> Focus on how objects interact and communicate</a:t>
            </a:r>
            <a:endParaRPr sz="2400">
              <a:sym typeface="+mn-ea"/>
            </a:endParaRPr>
          </a:p>
          <a:p>
            <a:pPr algn="just"/>
            <a:endParaRPr sz="2400">
              <a:sym typeface="+mn-ea"/>
            </a:endParaRPr>
          </a:p>
          <a:p>
            <a:pPr algn="just"/>
            <a:r>
              <a:rPr sz="2400">
                <a:sym typeface="+mn-ea"/>
              </a:rPr>
              <a:t>Encapsulate behavior and responsibilities</a:t>
            </a:r>
            <a:endParaRPr sz="2400">
              <a:sym typeface="+mn-ea"/>
            </a:endParaRPr>
          </a:p>
          <a:p>
            <a:pPr algn="just"/>
            <a:endParaRPr sz="2400">
              <a:sym typeface="+mn-ea"/>
            </a:endParaRPr>
          </a:p>
          <a:p>
            <a:pPr algn="just"/>
            <a:r>
              <a:rPr sz="2400">
                <a:sym typeface="+mn-ea"/>
              </a:rPr>
              <a:t>Reduce tight coupling</a:t>
            </a:r>
            <a:endParaRPr sz="2400">
              <a:sym typeface="+mn-ea"/>
            </a:endParaRPr>
          </a:p>
          <a:p>
            <a:pPr algn="just"/>
            <a:endParaRPr sz="2400">
              <a:sym typeface="+mn-ea"/>
            </a:endParaRPr>
          </a:p>
          <a:p>
            <a:pPr algn="just"/>
            <a:r>
              <a:rPr sz="2400">
                <a:sym typeface="+mn-ea"/>
              </a:rPr>
              <a:t>Make system flexible and easy to extend</a:t>
            </a:r>
            <a:endParaRPr sz="2400">
              <a:sym typeface="+mn-ea"/>
            </a:endParaRPr>
          </a:p>
          <a:p>
            <a:pPr algn="just"/>
            <a:endParaRPr sz="2400">
              <a:sym typeface="+mn-ea"/>
            </a:endParaRPr>
          </a:p>
          <a:p>
            <a:pPr algn="just"/>
            <a:r>
              <a:rPr sz="2400">
                <a:sym typeface="+mn-ea"/>
              </a:rPr>
              <a:t>Patterns Covered in This PPT: Observer, Command, Iterator, State, Template Method</a:t>
            </a:r>
            <a:endParaRPr sz="2400">
              <a:sym typeface="+mn-ea"/>
            </a:endParaRPr>
          </a:p>
          <a:p>
            <a:pPr algn="just"/>
            <a:endParaRPr 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5600"/>
            <a:ext cx="10515600" cy="1325563"/>
          </a:xfrm>
        </p:spPr>
        <p:txBody>
          <a:bodyPr/>
          <a:p>
            <a:r>
              <a:rPr lang="en-US">
                <a:sym typeface="+mn-ea"/>
              </a:rPr>
              <a:t>              </a:t>
            </a:r>
            <a:r>
              <a:rPr>
                <a:sym typeface="+mn-ea"/>
              </a:rPr>
              <a:t>Observer Pattern – Concept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5905"/>
            <a:ext cx="10515600" cy="4351338"/>
          </a:xfrm>
        </p:spPr>
        <p:txBody>
          <a:bodyPr/>
          <a:p>
            <a:endParaRPr sz="2400">
              <a:sym typeface="+mn-ea"/>
            </a:endParaRPr>
          </a:p>
          <a:p>
            <a:r>
              <a:rPr sz="2400">
                <a:sym typeface="+mn-ea"/>
              </a:rPr>
              <a:t>Defines a one-to-many relationship</a:t>
            </a:r>
            <a:endParaRPr sz="2400">
              <a:sym typeface="+mn-ea"/>
            </a:endParaRPr>
          </a:p>
          <a:p>
            <a:endParaRPr sz="2400">
              <a:sym typeface="+mn-ea"/>
            </a:endParaRPr>
          </a:p>
          <a:p>
            <a:pPr algn="just"/>
            <a:r>
              <a:rPr sz="2400">
                <a:sym typeface="+mn-ea"/>
              </a:rPr>
              <a:t>When one object changes, all dependents are notified automatically</a:t>
            </a:r>
            <a:endParaRPr sz="2400">
              <a:sym typeface="+mn-ea"/>
            </a:endParaRPr>
          </a:p>
          <a:p>
            <a:pPr algn="just"/>
            <a:endParaRPr sz="2400">
              <a:sym typeface="+mn-ea"/>
            </a:endParaRPr>
          </a:p>
          <a:p>
            <a:r>
              <a:rPr sz="2400">
                <a:sym typeface="+mn-ea"/>
              </a:rPr>
              <a:t>Use Case: YouTube channel → subscribers get notifications</a:t>
            </a:r>
            <a:endParaRPr sz="2400">
              <a:sym typeface="+mn-ea"/>
            </a:endParaRPr>
          </a:p>
          <a:p>
            <a:endParaRPr sz="2400">
              <a:sym typeface="+mn-ea"/>
            </a:endParaRPr>
          </a:p>
          <a:p>
            <a:r>
              <a:rPr sz="2400">
                <a:sym typeface="+mn-ea"/>
              </a:rPr>
              <a:t>Helps decouple the subject and observers</a:t>
            </a:r>
            <a:endParaRPr sz="2400">
              <a:sym typeface="+mn-ea"/>
            </a:endParaRPr>
          </a:p>
          <a:p>
            <a:endParaRPr 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1325"/>
            <a:ext cx="10972800" cy="582613"/>
          </a:xfrm>
        </p:spPr>
        <p:txBody>
          <a:bodyPr/>
          <a:p>
            <a:r>
              <a:rPr lang="en-US">
                <a:sym typeface="+mn-ea"/>
              </a:rPr>
              <a:t>                 </a:t>
            </a:r>
            <a:r>
              <a:rPr>
                <a:sym typeface="+mn-ea"/>
              </a:rPr>
              <a:t>Observer Pattern – 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7385" y="1522095"/>
            <a:ext cx="10972800" cy="4953000"/>
          </a:xfrm>
        </p:spPr>
        <p:txBody>
          <a:bodyPr>
            <a:normAutofit fontScale="85000"/>
          </a:bodyPr>
          <a:p>
            <a:r>
              <a:rPr>
                <a:sym typeface="+mn-ea"/>
              </a:rPr>
              <a:t>interface Observer {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void update(String msg);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}</a:t>
            </a:r>
            <a:endParaRPr>
              <a:sym typeface="+mn-ea"/>
            </a:endParaRPr>
          </a:p>
          <a:p>
            <a:endParaRPr lang="en-US"/>
          </a:p>
          <a:p>
            <a:r>
              <a:rPr>
                <a:sym typeface="+mn-ea"/>
              </a:rPr>
              <a:t>class Subscriber implements Observer {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public void update(String msg) {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    System.out.println("Received: " + msg);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}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}</a:t>
            </a:r>
            <a:endParaRPr>
              <a:sym typeface="+mn-ea"/>
            </a:endParaRP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70" y="629285"/>
            <a:ext cx="10515600" cy="4351338"/>
          </a:xfrm>
        </p:spPr>
        <p:txBody>
          <a:bodyPr>
            <a:normAutofit fontScale="90000"/>
          </a:bodyPr>
          <a:p>
            <a:r>
              <a:rPr>
                <a:sym typeface="+mn-ea"/>
              </a:rPr>
              <a:t>class Channel {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Observer observer;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void subscribe(Observer o) {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    observer = o;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}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void notifyUser(String msg) {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    observer.update(msg);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}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}</a:t>
            </a:r>
            <a:endParaRPr>
              <a:sym typeface="+mn-ea"/>
            </a:endParaRP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16280"/>
            <a:ext cx="10515600" cy="4351338"/>
          </a:xfrm>
        </p:spPr>
        <p:txBody>
          <a:bodyPr/>
          <a:p>
            <a:r>
              <a:rPr>
                <a:sym typeface="+mn-ea"/>
              </a:rPr>
              <a:t>public class ObserverDemo {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public static void main(String[] args) {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    Channel ch = new Channel();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    ch.subscribe(new Subscriber());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    ch.notifyUser("New Video Uploaded!");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}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}</a:t>
            </a:r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24205"/>
            <a:ext cx="10972800" cy="582613"/>
          </a:xfrm>
        </p:spPr>
        <p:txBody>
          <a:bodyPr/>
          <a:p>
            <a:r>
              <a:rPr lang="en-US">
                <a:sym typeface="+mn-ea"/>
              </a:rPr>
              <a:t>                 </a:t>
            </a:r>
            <a:r>
              <a:rPr>
                <a:sym typeface="+mn-ea"/>
              </a:rPr>
              <a:t>Iterator Pattern – Concept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15770"/>
            <a:ext cx="10972800" cy="4953000"/>
          </a:xfrm>
        </p:spPr>
        <p:txBody>
          <a:bodyPr/>
          <a:p>
            <a:pPr algn="just"/>
            <a:r>
              <a:rPr sz="2400">
                <a:sym typeface="+mn-ea"/>
              </a:rPr>
              <a:t> Provides a way to access elements of a collection sequentially</a:t>
            </a:r>
            <a:endParaRPr sz="2400">
              <a:sym typeface="+mn-ea"/>
            </a:endParaRPr>
          </a:p>
          <a:p>
            <a:pPr algn="just"/>
            <a:endParaRPr sz="2400">
              <a:sym typeface="+mn-ea"/>
            </a:endParaRPr>
          </a:p>
          <a:p>
            <a:pPr algn="just"/>
            <a:r>
              <a:rPr lang="en-US" sz="2400">
                <a:sym typeface="+mn-ea"/>
              </a:rPr>
              <a:t> </a:t>
            </a:r>
            <a:r>
              <a:rPr sz="2400">
                <a:sym typeface="+mn-ea"/>
              </a:rPr>
              <a:t>Without exposing the underlying structure</a:t>
            </a:r>
            <a:endParaRPr sz="2400">
              <a:sym typeface="+mn-ea"/>
            </a:endParaRPr>
          </a:p>
          <a:p>
            <a:pPr algn="just"/>
            <a:endParaRPr sz="2400">
              <a:sym typeface="+mn-ea"/>
            </a:endParaRPr>
          </a:p>
          <a:p>
            <a:pPr algn="just"/>
            <a:r>
              <a:rPr lang="en-US" sz="2400">
                <a:sym typeface="+mn-ea"/>
              </a:rPr>
              <a:t> </a:t>
            </a:r>
            <a:r>
              <a:rPr sz="2400">
                <a:sym typeface="+mn-ea"/>
              </a:rPr>
              <a:t>Use Case: Looping through a list of names or objects</a:t>
            </a:r>
            <a:endParaRPr sz="2400">
              <a:sym typeface="+mn-ea"/>
            </a:endParaRPr>
          </a:p>
          <a:p>
            <a:pPr algn="just"/>
            <a:endParaRPr 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0820"/>
            <a:ext cx="10515600" cy="1325563"/>
          </a:xfrm>
        </p:spPr>
        <p:txBody>
          <a:bodyPr/>
          <a:p>
            <a:r>
              <a:rPr lang="en-US">
                <a:sym typeface="+mn-ea"/>
              </a:rPr>
              <a:t>                 </a:t>
            </a:r>
            <a:r>
              <a:rPr>
                <a:sym typeface="+mn-ea"/>
              </a:rPr>
              <a:t>Iterator Pattern – 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0180"/>
            <a:ext cx="5731510" cy="4351655"/>
          </a:xfrm>
        </p:spPr>
        <p:txBody>
          <a:bodyPr>
            <a:noAutofit/>
          </a:bodyPr>
          <a:p>
            <a:r>
              <a:rPr sz="1900">
                <a:sym typeface="+mn-ea"/>
              </a:rPr>
              <a:t>import java.util.*;</a:t>
            </a:r>
            <a:endParaRPr sz="1900">
              <a:sym typeface="+mn-ea"/>
            </a:endParaRPr>
          </a:p>
          <a:p>
            <a:r>
              <a:rPr sz="1900">
                <a:sym typeface="+mn-ea"/>
              </a:rPr>
              <a:t>public class IteratorDemo {</a:t>
            </a:r>
            <a:endParaRPr sz="1900">
              <a:sym typeface="+mn-ea"/>
            </a:endParaRPr>
          </a:p>
          <a:p>
            <a:r>
              <a:rPr sz="1900">
                <a:sym typeface="+mn-ea"/>
              </a:rPr>
              <a:t>    public static void main(String[] args) {</a:t>
            </a:r>
            <a:endParaRPr sz="1900">
              <a:sym typeface="+mn-ea"/>
            </a:endParaRPr>
          </a:p>
          <a:p>
            <a:r>
              <a:rPr sz="1900">
                <a:sym typeface="+mn-ea"/>
              </a:rPr>
              <a:t>        List&lt;String&gt; names = Arrays.asList("A", "B", "C");</a:t>
            </a:r>
            <a:endParaRPr sz="1900">
              <a:sym typeface="+mn-ea"/>
            </a:endParaRPr>
          </a:p>
          <a:p>
            <a:r>
              <a:rPr sz="1900">
                <a:sym typeface="+mn-ea"/>
              </a:rPr>
              <a:t>        Iterator&lt;String&gt; it = names.iterator();</a:t>
            </a:r>
            <a:endParaRPr sz="1900">
              <a:sym typeface="+mn-ea"/>
            </a:endParaRPr>
          </a:p>
          <a:p>
            <a:r>
              <a:rPr sz="1900">
                <a:sym typeface="+mn-ea"/>
              </a:rPr>
              <a:t>        while (it.hasNext()) {</a:t>
            </a:r>
            <a:endParaRPr sz="1900">
              <a:sym typeface="+mn-ea"/>
            </a:endParaRPr>
          </a:p>
          <a:p>
            <a:r>
              <a:rPr sz="1900">
                <a:sym typeface="+mn-ea"/>
              </a:rPr>
              <a:t>            System.out.println(it.next());</a:t>
            </a:r>
            <a:endParaRPr sz="1900">
              <a:sym typeface="+mn-ea"/>
            </a:endParaRPr>
          </a:p>
          <a:p>
            <a:r>
              <a:rPr sz="1900">
                <a:sym typeface="+mn-ea"/>
              </a:rPr>
              <a:t>        }</a:t>
            </a:r>
            <a:endParaRPr sz="1900">
              <a:sym typeface="+mn-ea"/>
            </a:endParaRPr>
          </a:p>
          <a:p>
            <a:r>
              <a:rPr sz="1900">
                <a:sym typeface="+mn-ea"/>
              </a:rPr>
              <a:t>    }</a:t>
            </a:r>
            <a:endParaRPr sz="1900">
              <a:sym typeface="+mn-ea"/>
            </a:endParaRPr>
          </a:p>
          <a:p>
            <a:r>
              <a:rPr sz="1900">
                <a:sym typeface="+mn-ea"/>
              </a:rPr>
              <a:t>}</a:t>
            </a:r>
            <a:endParaRPr sz="1900">
              <a:sym typeface="+mn-ea"/>
            </a:endParaRPr>
          </a:p>
          <a:p>
            <a:endParaRPr lang="en-US" sz="700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458075" y="144018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>
                <a:sym typeface="+mn-ea"/>
              </a:rPr>
              <a:t>Output: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A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B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C</a:t>
            </a:r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6712585" y="1398270"/>
            <a:ext cx="48260" cy="3973830"/>
          </a:xfrm>
          <a:prstGeom prst="line">
            <a:avLst/>
          </a:prstGeom>
          <a:ln w="31750" cap="rnd"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73430"/>
            <a:ext cx="10972800" cy="582613"/>
          </a:xfrm>
        </p:spPr>
        <p:txBody>
          <a:bodyPr/>
          <a:p>
            <a:r>
              <a:rPr lang="en-US">
                <a:sym typeface="+mn-ea"/>
              </a:rPr>
              <a:t>                    </a:t>
            </a:r>
            <a:r>
              <a:rPr>
                <a:sym typeface="+mn-ea"/>
              </a:rPr>
              <a:t>State Pattern – Concept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02130"/>
            <a:ext cx="10972800" cy="4953000"/>
          </a:xfrm>
        </p:spPr>
        <p:txBody>
          <a:bodyPr/>
          <a:p>
            <a:pPr algn="just"/>
            <a:r>
              <a:rPr sz="2400">
                <a:sym typeface="+mn-ea"/>
              </a:rPr>
              <a:t>An object changes behavior based on its state</a:t>
            </a:r>
            <a:endParaRPr sz="2400">
              <a:sym typeface="+mn-ea"/>
            </a:endParaRPr>
          </a:p>
          <a:p>
            <a:pPr algn="just"/>
            <a:endParaRPr sz="2400">
              <a:sym typeface="+mn-ea"/>
            </a:endParaRPr>
          </a:p>
          <a:p>
            <a:pPr algn="just"/>
            <a:r>
              <a:rPr sz="2400">
                <a:sym typeface="+mn-ea"/>
              </a:rPr>
              <a:t>Use Case: Traffic light → Red = STOP, Green = GO</a:t>
            </a:r>
            <a:endParaRPr sz="2400">
              <a:sym typeface="+mn-ea"/>
            </a:endParaRPr>
          </a:p>
          <a:p>
            <a:pPr algn="just"/>
            <a:endParaRPr sz="2400">
              <a:sym typeface="+mn-ea"/>
            </a:endParaRPr>
          </a:p>
          <a:p>
            <a:pPr algn="just"/>
            <a:r>
              <a:rPr sz="2400">
                <a:sym typeface="+mn-ea"/>
              </a:rPr>
              <a:t>Helps avoid complex conditional statements</a:t>
            </a:r>
            <a:endParaRPr sz="2400">
              <a:sym typeface="+mn-ea"/>
            </a:endParaRPr>
          </a:p>
          <a:p>
            <a:pPr algn="just"/>
            <a:endParaRPr 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7370"/>
            <a:ext cx="10972800" cy="582613"/>
          </a:xfrm>
        </p:spPr>
        <p:txBody>
          <a:bodyPr/>
          <a:p>
            <a:r>
              <a:rPr>
                <a:sym typeface="+mn-ea"/>
              </a:rPr>
              <a:t>State Pattern –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4310"/>
            <a:ext cx="10972800" cy="4953000"/>
          </a:xfrm>
        </p:spPr>
        <p:txBody>
          <a:bodyPr>
            <a:normAutofit fontScale="65000"/>
          </a:bodyPr>
          <a:p>
            <a:r>
              <a:rPr>
                <a:sym typeface="+mn-ea"/>
              </a:rPr>
              <a:t>interface State {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void action();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}</a:t>
            </a:r>
            <a:endParaRPr>
              <a:sym typeface="+mn-ea"/>
            </a:endParaRPr>
          </a:p>
          <a:p>
            <a:endParaRPr lang="en-US"/>
          </a:p>
          <a:p>
            <a:r>
              <a:rPr>
                <a:sym typeface="+mn-ea"/>
              </a:rPr>
              <a:t>class RedState implements State {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public void action() { System.out.println("STOP"); }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}</a:t>
            </a:r>
            <a:endParaRPr>
              <a:sym typeface="+mn-ea"/>
            </a:endParaRPr>
          </a:p>
          <a:p>
            <a:endParaRPr lang="en-US"/>
          </a:p>
          <a:p>
            <a:r>
              <a:rPr>
                <a:sym typeface="+mn-ea"/>
              </a:rPr>
              <a:t>class GreenState implements State {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public void action() { System.out.println("GO"); }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}</a:t>
            </a:r>
            <a:endParaRPr>
              <a:sym typeface="+mn-ea"/>
            </a:endParaRP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4990"/>
          </a:xfrm>
        </p:spPr>
        <p:txBody>
          <a:bodyPr>
            <a:normAutofit fontScale="90000"/>
          </a:bodyPr>
          <a:p>
            <a:r>
              <a:rPr>
                <a:sym typeface="+mn-ea"/>
              </a:rPr>
              <a:t>State Pattern –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5670" y="1130935"/>
            <a:ext cx="4593590" cy="4351655"/>
          </a:xfrm>
        </p:spPr>
        <p:txBody>
          <a:bodyPr>
            <a:noAutofit/>
          </a:bodyPr>
          <a:p>
            <a:r>
              <a:rPr sz="1600">
                <a:sym typeface="+mn-ea"/>
              </a:rPr>
              <a:t>class TrafficLight {</a:t>
            </a:r>
            <a:endParaRPr sz="1600">
              <a:sym typeface="+mn-ea"/>
            </a:endParaRPr>
          </a:p>
          <a:p>
            <a:r>
              <a:rPr sz="1600">
                <a:sym typeface="+mn-ea"/>
              </a:rPr>
              <a:t>    State state;</a:t>
            </a:r>
            <a:endParaRPr sz="1600">
              <a:sym typeface="+mn-ea"/>
            </a:endParaRPr>
          </a:p>
          <a:p>
            <a:r>
              <a:rPr sz="1600">
                <a:sym typeface="+mn-ea"/>
              </a:rPr>
              <a:t>    void setState(State s) { state = s; }</a:t>
            </a:r>
            <a:endParaRPr sz="1600">
              <a:sym typeface="+mn-ea"/>
            </a:endParaRPr>
          </a:p>
          <a:p>
            <a:r>
              <a:rPr sz="1600">
                <a:sym typeface="+mn-ea"/>
              </a:rPr>
              <a:t>    void show() { state.action(); }</a:t>
            </a:r>
            <a:endParaRPr sz="1600">
              <a:sym typeface="+mn-ea"/>
            </a:endParaRPr>
          </a:p>
          <a:p>
            <a:r>
              <a:rPr sz="1600">
                <a:sym typeface="+mn-ea"/>
              </a:rPr>
              <a:t>}</a:t>
            </a:r>
            <a:endParaRPr sz="1600">
              <a:sym typeface="+mn-ea"/>
            </a:endParaRPr>
          </a:p>
          <a:p>
            <a:endParaRPr lang="en-US" sz="1600"/>
          </a:p>
          <a:p>
            <a:r>
              <a:rPr sz="1600">
                <a:sym typeface="+mn-ea"/>
              </a:rPr>
              <a:t>public class StateDemo {</a:t>
            </a:r>
            <a:endParaRPr sz="1600">
              <a:sym typeface="+mn-ea"/>
            </a:endParaRPr>
          </a:p>
          <a:p>
            <a:r>
              <a:rPr sz="1600">
                <a:sym typeface="+mn-ea"/>
              </a:rPr>
              <a:t>    public static void main(String[] args) {</a:t>
            </a:r>
            <a:endParaRPr sz="1600">
              <a:sym typeface="+mn-ea"/>
            </a:endParaRPr>
          </a:p>
          <a:p>
            <a:r>
              <a:rPr sz="1600">
                <a:sym typeface="+mn-ea"/>
              </a:rPr>
              <a:t>        TrafficLight light = new TrafficLight();</a:t>
            </a:r>
            <a:endParaRPr sz="1600">
              <a:sym typeface="+mn-ea"/>
            </a:endParaRPr>
          </a:p>
          <a:p>
            <a:r>
              <a:rPr sz="1600">
                <a:sym typeface="+mn-ea"/>
              </a:rPr>
              <a:t>        light.setState(new RedState());</a:t>
            </a:r>
            <a:endParaRPr sz="1600">
              <a:sym typeface="+mn-ea"/>
            </a:endParaRPr>
          </a:p>
          <a:p>
            <a:r>
              <a:rPr sz="1600">
                <a:sym typeface="+mn-ea"/>
              </a:rPr>
              <a:t>        light.show();</a:t>
            </a:r>
            <a:endParaRPr sz="1600">
              <a:sym typeface="+mn-ea"/>
            </a:endParaRPr>
          </a:p>
          <a:p>
            <a:r>
              <a:rPr sz="1600">
                <a:sym typeface="+mn-ea"/>
              </a:rPr>
              <a:t>        light.setState(new GreenState());</a:t>
            </a:r>
            <a:endParaRPr sz="1600">
              <a:sym typeface="+mn-ea"/>
            </a:endParaRPr>
          </a:p>
          <a:p>
            <a:r>
              <a:rPr sz="1600">
                <a:sym typeface="+mn-ea"/>
              </a:rPr>
              <a:t>        light.show();</a:t>
            </a:r>
            <a:endParaRPr sz="1600">
              <a:sym typeface="+mn-ea"/>
            </a:endParaRPr>
          </a:p>
          <a:p>
            <a:r>
              <a:rPr sz="1600">
                <a:sym typeface="+mn-ea"/>
              </a:rPr>
              <a:t>    }</a:t>
            </a:r>
            <a:endParaRPr sz="1600">
              <a:sym typeface="+mn-ea"/>
            </a:endParaRPr>
          </a:p>
          <a:p>
            <a:r>
              <a:rPr sz="1600">
                <a:sym typeface="+mn-ea"/>
              </a:rPr>
              <a:t>}</a:t>
            </a:r>
            <a:endParaRPr sz="1600">
              <a:sym typeface="+mn-ea"/>
            </a:endParaRPr>
          </a:p>
          <a:p>
            <a:endParaRPr lang="en-US" sz="400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394450" y="113093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>
                <a:sym typeface="+mn-ea"/>
              </a:rPr>
              <a:t>Output: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STOP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GO</a:t>
            </a:r>
            <a:endParaRPr>
              <a:sym typeface="+mn-ea"/>
            </a:endParaRPr>
          </a:p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5950585" y="1050925"/>
            <a:ext cx="86995" cy="5102225"/>
          </a:xfrm>
          <a:prstGeom prst="line">
            <a:avLst/>
          </a:prstGeom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120" y="773430"/>
            <a:ext cx="10972800" cy="582613"/>
          </a:xfrm>
        </p:spPr>
        <p:txBody>
          <a:bodyPr/>
          <a:p>
            <a:r>
              <a:rPr>
                <a:sym typeface="+mn-ea"/>
              </a:rPr>
              <a:t>Template Method Pattern – Concept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6120" y="1840865"/>
            <a:ext cx="10972800" cy="4953000"/>
          </a:xfrm>
        </p:spPr>
        <p:txBody>
          <a:bodyPr/>
          <a:p>
            <a:r>
              <a:rPr sz="2400">
                <a:sym typeface="+mn-ea"/>
              </a:rPr>
              <a:t>Defines skeleton of an algorithm</a:t>
            </a:r>
            <a:endParaRPr sz="2400">
              <a:sym typeface="+mn-ea"/>
            </a:endParaRPr>
          </a:p>
          <a:p>
            <a:endParaRPr sz="2400">
              <a:sym typeface="+mn-ea"/>
            </a:endParaRPr>
          </a:p>
          <a:p>
            <a:r>
              <a:rPr sz="2400">
                <a:sym typeface="+mn-ea"/>
              </a:rPr>
              <a:t>Subclasses fill in specific steps</a:t>
            </a:r>
            <a:endParaRPr sz="2400">
              <a:sym typeface="+mn-ea"/>
            </a:endParaRPr>
          </a:p>
          <a:p>
            <a:endParaRPr sz="2400">
              <a:sym typeface="+mn-ea"/>
            </a:endParaRPr>
          </a:p>
          <a:p>
            <a:r>
              <a:rPr sz="2400">
                <a:sym typeface="+mn-ea"/>
              </a:rPr>
              <a:t>Use Case: Exam → writeExam() steps differ for subjects, but conductExam() is same</a:t>
            </a:r>
            <a:endParaRPr sz="2400">
              <a:sym typeface="+mn-ea"/>
            </a:endParaRPr>
          </a:p>
          <a:p>
            <a:endParaRPr sz="2400">
              <a:sym typeface="+mn-ea"/>
            </a:endParaRPr>
          </a:p>
          <a:p>
            <a:r>
              <a:rPr sz="2400">
                <a:sym typeface="+mn-ea"/>
              </a:rPr>
              <a:t>Promotes code reuse and standardization</a:t>
            </a:r>
            <a:endParaRPr sz="2400">
              <a:sym typeface="+mn-ea"/>
            </a:endParaRPr>
          </a:p>
          <a:p>
            <a:endParaRPr lang="en-US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3040"/>
            <a:ext cx="10515600" cy="1325563"/>
          </a:xfrm>
        </p:spPr>
        <p:txBody>
          <a:bodyPr/>
          <a:p>
            <a:r>
              <a:rPr>
                <a:sym typeface="+mn-ea"/>
              </a:rPr>
              <a:t>Template Method Pattern – 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6685"/>
            <a:ext cx="4602480" cy="4351655"/>
          </a:xfrm>
        </p:spPr>
        <p:txBody>
          <a:bodyPr>
            <a:noAutofit/>
          </a:bodyPr>
          <a:p>
            <a:r>
              <a:rPr sz="1800">
                <a:sym typeface="+mn-ea"/>
              </a:rPr>
              <a:t>abstract class Exam {</a:t>
            </a:r>
            <a:endParaRPr sz="1800">
              <a:sym typeface="+mn-ea"/>
            </a:endParaRPr>
          </a:p>
          <a:p>
            <a:r>
              <a:rPr sz="1800">
                <a:sym typeface="+mn-ea"/>
              </a:rPr>
              <a:t>    abstract void writeExam();</a:t>
            </a:r>
            <a:endParaRPr sz="1800">
              <a:sym typeface="+mn-ea"/>
            </a:endParaRPr>
          </a:p>
          <a:p>
            <a:r>
              <a:rPr sz="1800">
                <a:sym typeface="+mn-ea"/>
              </a:rPr>
              <a:t>    final void conductExam() {</a:t>
            </a:r>
            <a:endParaRPr sz="1800">
              <a:sym typeface="+mn-ea"/>
            </a:endParaRPr>
          </a:p>
          <a:p>
            <a:r>
              <a:rPr sz="1800">
                <a:sym typeface="+mn-ea"/>
              </a:rPr>
              <a:t>        writeExam();</a:t>
            </a:r>
            <a:endParaRPr sz="1800">
              <a:sym typeface="+mn-ea"/>
            </a:endParaRPr>
          </a:p>
          <a:p>
            <a:r>
              <a:rPr sz="1800">
                <a:sym typeface="+mn-ea"/>
              </a:rPr>
              <a:t>        System.out.println("Exam Finished");</a:t>
            </a:r>
            <a:endParaRPr sz="1800">
              <a:sym typeface="+mn-ea"/>
            </a:endParaRPr>
          </a:p>
          <a:p>
            <a:r>
              <a:rPr sz="1800">
                <a:sym typeface="+mn-ea"/>
              </a:rPr>
              <a:t>    }</a:t>
            </a:r>
            <a:endParaRPr sz="1800">
              <a:sym typeface="+mn-ea"/>
            </a:endParaRPr>
          </a:p>
          <a:p>
            <a:r>
              <a:rPr sz="1800">
                <a:sym typeface="+mn-ea"/>
              </a:rPr>
              <a:t>}</a:t>
            </a:r>
            <a:endParaRPr sz="1800">
              <a:sym typeface="+mn-ea"/>
            </a:endParaRPr>
          </a:p>
          <a:p>
            <a:endParaRPr lang="en-US" sz="1800"/>
          </a:p>
          <a:p>
            <a:r>
              <a:rPr sz="1800">
                <a:sym typeface="+mn-ea"/>
              </a:rPr>
              <a:t>class MathExam extends Exam {</a:t>
            </a:r>
            <a:endParaRPr sz="1800">
              <a:sym typeface="+mn-ea"/>
            </a:endParaRPr>
          </a:p>
          <a:p>
            <a:r>
              <a:rPr sz="1800">
                <a:sym typeface="+mn-ea"/>
              </a:rPr>
              <a:t>    void writeExam() {</a:t>
            </a:r>
            <a:endParaRPr sz="1800">
              <a:sym typeface="+mn-ea"/>
            </a:endParaRPr>
          </a:p>
          <a:p>
            <a:r>
              <a:rPr sz="1800">
                <a:sym typeface="+mn-ea"/>
              </a:rPr>
              <a:t>        System.out.println("Writing Math Exam");</a:t>
            </a:r>
            <a:endParaRPr sz="1800">
              <a:sym typeface="+mn-ea"/>
            </a:endParaRPr>
          </a:p>
          <a:p>
            <a:r>
              <a:rPr sz="1800">
                <a:sym typeface="+mn-ea"/>
              </a:rPr>
              <a:t>    }</a:t>
            </a:r>
            <a:endParaRPr sz="1800">
              <a:sym typeface="+mn-ea"/>
            </a:endParaRPr>
          </a:p>
          <a:p>
            <a:r>
              <a:rPr sz="1800">
                <a:sym typeface="+mn-ea"/>
              </a:rPr>
              <a:t>}</a:t>
            </a:r>
            <a:endParaRPr sz="1800">
              <a:sym typeface="+mn-ea"/>
            </a:endParaRPr>
          </a:p>
          <a:p>
            <a:endParaRPr lang="en-US" sz="900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548755" y="1518920"/>
            <a:ext cx="4064000" cy="414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public class TemplateDemo {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public static void main(String[] args) {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    Exam exam = new MathExam();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    exam.conductExam();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 }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}</a:t>
            </a:r>
            <a:endParaRPr>
              <a:sym typeface="+mn-ea"/>
            </a:endParaRPr>
          </a:p>
          <a:p>
            <a:endParaRPr>
              <a:sym typeface="+mn-ea"/>
            </a:endParaRPr>
          </a:p>
          <a:p>
            <a:r>
              <a:rPr b="1">
                <a:sym typeface="+mn-ea"/>
              </a:rPr>
              <a:t>Output:</a:t>
            </a:r>
            <a:endParaRPr b="1">
              <a:sym typeface="+mn-ea"/>
            </a:endParaRPr>
          </a:p>
          <a:p>
            <a:r>
              <a:rPr>
                <a:sym typeface="+mn-ea"/>
              </a:rPr>
              <a:t>Writing Math Exam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Exam Finished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3110</Words>
  <Application>WPS Presentation</Application>
  <PresentationFormat>Widescreen</PresentationFormat>
  <Paragraphs>176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Blue Waves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WPS_1668151776</cp:lastModifiedBy>
  <cp:revision>4</cp:revision>
  <dcterms:created xsi:type="dcterms:W3CDTF">2025-07-23T00:59:00Z</dcterms:created>
  <dcterms:modified xsi:type="dcterms:W3CDTF">2026-01-13T08:05:15Z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62EE0E572C9C412EBFBB3D119D566946_11</vt:lpwstr>
  </property>
  <property fmtid="{D5CDD505-2E9C-101B-9397-08002B2CF9AE}" pid="3" name="KSOProductBuildVer">
    <vt:lpwstr>1033-12.2.0.23196</vt:lpwstr>
  </property>
</Properties>
</file>